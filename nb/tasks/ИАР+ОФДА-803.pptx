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70AE37-E4C2-493A-A557-76CC66112E2C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26A540-D17C-4AD4-90A6-5792E699D782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C05A57-01FE-4AF6-9A7D-8DBDE34563A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9DC487-A156-4C97-B83E-E2B766337518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129F13-6C21-4D2E-9529-9CDB57D39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E654AE-9EC8-4B76-A07B-208E32F032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AC6B0-D9E3-4C6F-A4A6-29BD43D08D2C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749B9D-784A-47B7-BAD1-74BDE4B6773F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C163CA-ABED-4643-B7C8-A0233D03A29F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3CE2C1-9C13-4C6F-B5CF-B791E102ED23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D9A09E-E141-4579-98C0-E39EA4DEF097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72562F-A594-4E7C-97F6-279AD93C1EE9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B927DA-FF0B-41B1-BCA7-43850450966A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AE20F0-212B-478C-AD87-5F3BAA5A5396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FB29F5-6BEB-451C-B1AC-D52B82065807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BCAD25-E941-483F-B324-E2F61F7B720B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B03E24-2878-4379-87D9-53B1FCB0C759}" type="slidenum">
              <a:rPr b="0" lang="ru-RU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89;p13"/>
          <p:cNvSpPr/>
          <p:nvPr/>
        </p:nvSpPr>
        <p:spPr>
          <a:xfrm>
            <a:off x="641520" y="3989160"/>
            <a:ext cx="78663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0;p13"/>
          <p:cNvSpPr/>
          <p:nvPr/>
        </p:nvSpPr>
        <p:spPr>
          <a:xfrm>
            <a:off x="641520" y="1585800"/>
            <a:ext cx="760500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1;p13"/>
          <p:cNvSpPr/>
          <p:nvPr/>
        </p:nvSpPr>
        <p:spPr>
          <a:xfrm>
            <a:off x="6351840" y="4887360"/>
            <a:ext cx="557712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Выполнил: Юнусов Виталий Юрьевич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Номер потока: ОФДА-803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Montserrat Medium"/>
                <a:ea typeface="Montserrat Medium"/>
              </a:rPr>
              <a:t>Преподаватель: Иванов Александр Евгеньевич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2;p13"/>
          <p:cNvSpPr/>
          <p:nvPr/>
        </p:nvSpPr>
        <p:spPr>
          <a:xfrm>
            <a:off x="1166400" y="1971720"/>
            <a:ext cx="10304640" cy="24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ИТОГОВАЯ АТТЕСТАЦИОННАЯ РАБОТА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по дополнительной профессиональной программе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повышения квалификации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ru-RU" sz="3000" strike="noStrike" u="none">
                <a:solidFill>
                  <a:schemeClr val="dk1"/>
                </a:solidFill>
                <a:effectLst/>
                <a:uFillTx/>
                <a:latin typeface="Montserrat"/>
                <a:ea typeface="Montserrat"/>
              </a:rPr>
              <a:t>Data-аналитика: Python и SQL в анализе данных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940000" y="6169320"/>
            <a:ext cx="8719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2025 г.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180000" y="180000"/>
            <a:ext cx="4860000" cy="54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Задача 1. Загрузка и проверка данных</a:t>
            </a:r>
            <a:endParaRPr b="1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383760" y="900000"/>
            <a:ext cx="2676240" cy="7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540000" y="720000"/>
            <a:ext cx="360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Установка необходимых библиотек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540000" y="2520000"/>
            <a:ext cx="1019268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540000" y="2160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Клиенты и столбцы в загруженной таблице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264000" y="720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Проверка и корректировка данных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6264000" y="972000"/>
            <a:ext cx="4295880" cy="76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4"/>
          <a:stretch/>
        </p:blipFill>
        <p:spPr>
          <a:xfrm>
            <a:off x="6300000" y="1656000"/>
            <a:ext cx="2714400" cy="58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180000" y="180000"/>
            <a:ext cx="684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Задача 2: Анализ данных инструментами Python</a:t>
            </a:r>
            <a:endParaRPr b="1" lang="ru-RU" sz="1800" strike="noStrike" u="non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</p:txBody>
      </p:sp>
      <p:sp>
        <p:nvSpPr>
          <p:cNvPr id="81" name=""/>
          <p:cNvSpPr/>
          <p:nvPr/>
        </p:nvSpPr>
        <p:spPr>
          <a:xfrm>
            <a:off x="540000" y="1044000"/>
            <a:ext cx="504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2.1 Сколько клиентов в каждой стране?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43600" y="2196000"/>
            <a:ext cx="4856400" cy="91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Средний баланс для клиентов в каждой стране: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France       62092.636516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Germany   119730.116134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Spain         61818.147763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24040" y="1265400"/>
            <a:ext cx="205596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France     5014 кл.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Spain       2477 кл.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Germany 2509 кл.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760000" y="1044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2.2 Какие клиенты самые активные?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120000" y="1296000"/>
            <a:ext cx="576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51.12% активных пользователей в группе 'молодые (18-30)'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49.15% активных пользователей в группе 'средний возраст (31-45)'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52.22% активных пользователей в группе 'зрелые (46-60)'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80.82% активных пользователей в группе 'пожилые (60+)'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456000" y="3528000"/>
            <a:ext cx="558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2.3 Сколькими продуктами пользуются клиенты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606920" y="3780000"/>
            <a:ext cx="277308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5084 кл. имеют 1 продукт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4590 кл. имеют 2 продукта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266 кл.   имеют 3 продукта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 кл.     имеют 4 продукта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22760" y="5033520"/>
            <a:ext cx="7077240" cy="162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Средний баланс для клиентов с разным количеством продуктов: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продукт     98551.870614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2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продукта   51879.145813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продукта   75458.328195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4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продукта   93733.135000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180000" y="171720"/>
            <a:ext cx="3605400" cy="72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Задача 3: Создание графиков</a:t>
            </a:r>
            <a:endParaRPr b="1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1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277560" y="720000"/>
            <a:ext cx="5351760" cy="50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5794560" y="563040"/>
            <a:ext cx="6247440" cy="519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63720" y="782280"/>
            <a:ext cx="6177960" cy="461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6465240" y="720000"/>
            <a:ext cx="5646240" cy="45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097720" y="202320"/>
            <a:ext cx="8122320" cy="645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180000" y="180000"/>
            <a:ext cx="4860000" cy="54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Заключение</a:t>
            </a:r>
            <a:endParaRPr b="1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16720" y="756000"/>
            <a:ext cx="11663280" cy="53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Германия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— приоритет для премиального обслуживания: Немецкий рынок, несмотря на меньшую долю и активность, генерирует наибольший объем средств. Целесообразно разработать для этой группы программы по увеличению лояльности и активности.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Пожилые клиенты 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золотой актив: Группа 60+ демонстрирует исключительную лояльность и активность. Это делает их приоритетной для удержания и предложения премиальных услуг, ориентированных на сохранение и приумножение капитала.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Стратегия кросс-продаж для "среднего возраста": Основная масса клиентов (58%) — это люди среднего возраста. Именно среди них (и отчасти среди молодежи) следует активно продвигать второй и третий продукты, чтобы повысить их жизненную ценность для банка.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Исследование "богатых" владельцев одного продукта: Сегмент клиентов с одним продуктом и высоким балансом требует отдельного изучения, чтобы понять их мотивацию и предложить им персонализированные решения, которые увеличат их вовлеченность.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03;p15"/>
          <p:cNvSpPr/>
          <p:nvPr/>
        </p:nvSpPr>
        <p:spPr>
          <a:xfrm>
            <a:off x="2946600" y="2728800"/>
            <a:ext cx="687168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4500" strike="noStrike" u="none">
                <a:solidFill>
                  <a:srgbClr val="0070c0"/>
                </a:solidFill>
                <a:effectLst/>
                <a:uFillTx/>
                <a:latin typeface="Calibri"/>
                <a:ea typeface="Calibri"/>
              </a:rPr>
              <a:t>Благодарю за внимание!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3052ef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2025-11-24T17:18:46Z</dcterms:modified>
  <cp:revision>4</cp:revision>
  <dc:subject/>
  <dc:title/>
</cp:coreProperties>
</file>